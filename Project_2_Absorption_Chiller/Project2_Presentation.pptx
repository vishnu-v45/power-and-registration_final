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" cy="3291840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9688"/>
                </a:solidFill>
              </a:defRPr>
            </a:pPr>
            <a:r>
              <a:t>ME3160 — Power &amp; Refrigeration Cycles | Term Project 2</a:t>
            </a:r>
          </a:p>
          <a:p>
            <a:pPr>
              <a:spcBef>
                <a:spcPts val="1400"/>
              </a:spcBef>
              <a:defRPr sz="3000" b="1">
                <a:solidFill>
                  <a:srgbClr val="FFFFFF"/>
                </a:solidFill>
              </a:defRPr>
            </a:pPr>
            <a:r>
              <a:t>Waste-Heat-Driven Ammonia–Water Absorption Chiller for a District Cooling Network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Comprehensive Thermodynamic Analysis: Outdoor Air Psychrometrics → Chilled-Water Demand → Single-Effect Absorption Cycle → Industrial Flue-Gas Waste Heat Sizing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120640"/>
            <a:ext cx="9601200" cy="1005840"/>
          </a:xfrm>
          <a:prstGeom prst="roundRect">
            <a:avLst/>
          </a:prstGeom>
          <a:solidFill>
            <a:srgbClr val="1A3C69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Key Specifications: 400 Zones (40 m² each) | 2 °C Evaporator / 7–12 °C Chilled Water | 300 °C Process Flue Gas | Peng-Robinson Real-Gas Ammonia EOS | Pátek &amp; Klomfar (1995) Mixtures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SECTION 1: SYSTEM SCHEMATICS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Labelled Absorption Cycle &amp; Zone AHU Schematics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5303520"/>
          </a:xfrm>
          <a:prstGeom prst="roundRect">
            <a:avLst/>
          </a:prstGeom>
          <a:solidFill>
            <a:srgbClr val="F1F5F9"/>
          </a:solidFill>
          <a:ln>
            <a:solidFill>
              <a:srgbClr val="355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t>(a) Single-Effect Ammonia-Water Chiller Network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1: Strong solution leaving absorber (Tabs, Plow, x_strong)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2: Strong solution leaving pump (P_high, W_pump, η=70%)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3: Strong solution after SHX entering generator (T3, P_high)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4: Weak solution leaving generator (Tgen=130 °C, P_high, x_weak)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5: Weak solution cooled in SHX (T5, P_high, ε_SHX=70%)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6: Weak solution throttled into absorber (h6 = h5, Plow)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7: High-purity vapor leaving rectifier (T_dew, y_r = 99.5%)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8: Saturated liquid leaving condenser (Tcond, P_high)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9: Two-phase refrigerant after expansion valve (h9 = h8, Plow)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10: Saturated vapor leaving evaporator (Tevap=2 °C, Plow)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11: Refrigerant vapor entering absorber (combines with weak sol)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Waste Heat Stream: Process flue gas (300 °C in, ε=0.75, ≥140 °C floor)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Cooling Water Loop: Cooled by Evaporative Condenser (Tabs = Tcond)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12080" cy="5303520"/>
          </a:xfrm>
          <a:prstGeom prst="roundRect">
            <a:avLst/>
          </a:prstGeom>
          <a:solidFill>
            <a:srgbClr val="F1F5F9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t>(b) Zone Air Handling Unit (AHU) &amp; Drainage Network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OA: Outdoor fresh air (T_oa, RH_oa, Twb_oa, w_oa)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RA: Recirculated room air (T_room = 22.0 °C, w_room, RH_room)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MIX: Adiabatic mixing chamber (70% RA + 30% OA by dry air)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ADP: Apparatus Dew Point on coil cooling fins (saturated w_adp)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State SUP: Supply air leaving coil: T_sup = ADP + BF·(T_mix - ADP)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Bypass Factor: BF = 0.15 (15% air bypasses, 85% contacts ADP)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Room Setpoint: Dry bulb held strictly at 22.0 °C; RH ≤ 75% ceiling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Drain Pan &amp; Trap: Condensate collected at coil ADP: h_cond = hf(ADP)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Central Decanter: 400 zones drain to central holding tank for reuse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Chilled Water Interface: 7 °C supply / 12 °C return to chiller evaporator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District Scale: N = 400 zones, +5% distribution gain, +2% pump gain</a:t>
            </a:r>
          </a:p>
          <a:p>
            <a:pPr>
              <a:spcBef>
                <a:spcPts val="400"/>
              </a:spcBef>
              <a:defRPr sz="1050">
                <a:solidFill>
                  <a:srgbClr val="212529"/>
                </a:solidFill>
              </a:defRPr>
            </a:pPr>
            <a:r>
              <a:t>• Governing Load Logic: Sensible envelope + solar + internal gains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SECTION 2: SOLUTION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Computational Algorithm: Multi-Tiered Solver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355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2C57"/>
                </a:solidFill>
              </a:defRPr>
            </a:pPr>
            <a:r>
              <a:t>Tier 1: Zone Psychrometric &amp; Moisture Balance Loop</a:t>
            </a:r>
          </a:p>
          <a:p>
            <a:pPr>
              <a:spcBef>
                <a:spcPts val="300"/>
              </a:spcBef>
              <a:defRPr sz="1000">
                <a:solidFill>
                  <a:srgbClr val="212529"/>
                </a:solidFill>
              </a:defRPr>
            </a:pPr>
            <a:r>
              <a:t>1. Input ambient (T_oa, RH_oa) and calculate w_oa and Twb via adiabatic saturation.</a:t>
            </a:r>
            <a:br/>
            <a:r>
              <a:t>2. Compute sensible room load: Q_sens = UA_env·(T_oa - 22) + Q_solar + 1100 W.</a:t>
            </a:r>
            <a:br/>
            <a:r>
              <a:t>3. Determine required supply temperature: T_sup = 22 - Q_sens / (m_da · Cp_air).</a:t>
            </a:r>
            <a:br/>
            <a:r>
              <a:t>4. Guess room humidity ratio w_room; calculate mixed state (T_mix, w_mix).</a:t>
            </a:r>
            <a:br/>
            <a:r>
              <a:t>5. Invert coil relation for ADP = (T_sup - BF·T_mix) / (1 - BF) and w_adp = w_sat(ADP).</a:t>
            </a:r>
            <a:br/>
            <a:r>
              <a:t>6. Calculate w_sup = w_adp + BF·(w_mix - w_adp) and room update w_room = w_sup + m_w_int/m_da.</a:t>
            </a:r>
            <a:br/>
            <a:r>
              <a:t>7. Iterate until |w_room^(k+1) - w_room^(k)| &lt; 1e-8. Verify RH_room ≤ 75%.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728655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355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2C57"/>
                </a:solidFill>
              </a:defRPr>
            </a:pPr>
            <a:r>
              <a:t>Tier 2: Real-Gas &amp; Mixture Property Engines</a:t>
            </a:r>
          </a:p>
          <a:p>
            <a:pPr>
              <a:spcBef>
                <a:spcPts val="300"/>
              </a:spcBef>
              <a:defRPr sz="1000">
                <a:solidFill>
                  <a:srgbClr val="212529"/>
                </a:solidFill>
              </a:defRPr>
            </a:pPr>
            <a:r>
              <a:t>• Pure Ammonia: Peng-Robinson cubic EOS with Lee-Kesler acentric factor correlation.</a:t>
            </a:r>
            <a:br/>
            <a:r>
              <a:t>• Reference State: T_ref = 273.15 K, P_ref = 101.325 kPa, ideal gas href = 0, sref = 0.</a:t>
            </a:r>
            <a:br/>
            <a:r>
              <a:t>• Mixture Phase Equilibrium: Pátek &amp; Klomfar (1995) explicit polynomial series.</a:t>
            </a:r>
            <a:br/>
            <a:r>
              <a:t>  - Table 1: T_bub(p, x) = T0 · Σ a_i (1-x)^m_i [ln(p0/p)]^n_i  (Row 13: 4.895960E+00)</a:t>
            </a:r>
            <a:br/>
            <a:r>
              <a:t>  - Table 2: T_dew(p, y) = T0 · Σ a_i (1-y)^(m_i/4) [ln(p0/p)]^n_i</a:t>
            </a:r>
            <a:br/>
            <a:r>
              <a:t>• Solution Enthalpies: Saturated liquid h_L(T, x) and saturated vapor h_V(T, y) with heat of 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355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2C57"/>
                </a:solidFill>
              </a:defRPr>
            </a:pPr>
            <a:r>
              <a:t>Tier 3: Absorption Cycle &amp; Condenser Closed-Loop Solver</a:t>
            </a:r>
          </a:p>
          <a:p>
            <a:pPr>
              <a:spcBef>
                <a:spcPts val="300"/>
              </a:spcBef>
              <a:defRPr sz="1000">
                <a:solidFill>
                  <a:srgbClr val="212529"/>
                </a:solidFill>
              </a:defRPr>
            </a:pPr>
            <a:r>
              <a:t>1. Evaluate P_low = Psat(T_evap=2 °C) and P_high = Psat(T_cond).</a:t>
            </a:r>
            <a:br/>
            <a:r>
              <a:t>2. Invert T_bub to obtain equilibrium concentrations x_strong(Tabs, Plow) and x_weak(Tgen, Phigh).</a:t>
            </a:r>
            <a:br/>
            <a:r>
              <a:t>3. Circulation ratio f = (0.995 - x_weak) / (x_strong - x_weak); m_r = Q_evap / (h10 - h8).</a:t>
            </a:r>
            <a:br/>
            <a:r>
              <a:t>4. Solution heat exchanger (SHX) duty: Q_SHX = ε_SHX · m_weak · (h4 - h4@Tabs).</a:t>
            </a:r>
            <a:br/>
            <a:r>
              <a:t>5. Generator heat: Q_gen = m_r·h7 + m_weak·h4 - m_strong·h3 + Q_rect.</a:t>
            </a:r>
            <a:br/>
            <a:r>
              <a:t>6. Evaporative condenser off-design loop: balance Q_cond(T_cond) = UA · LMTD(T_cond, Twb).</a:t>
            </a:r>
            <a:br/>
            <a:r>
              <a:t>7. Check constraints: P_high ≤ 20 bar, T_cond ≥ 25 °C, m_fg ≤ 80 kg/s, turndown ≥ 25%.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SECTION 3: MODEL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 Verification: Zero-Tolerance Hand-Traceable Checks (Checks 1 to 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43000"/>
          <a:ext cx="1072865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  <a:gridCol w="1828800"/>
                <a:gridCol w="1950415"/>
              </a:tblGrid>
              <a:tr h="23058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Validation Parameter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Hand / Reference Value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Physics Code Output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Error / Margin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1: Room Pv (kPa)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1.9840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1.9840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1: Room w (kg/kg da)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0.0124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0.0124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0.019%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1: Room h (kJ/kg 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53.710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53.709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1: Outdoor Pv (kPa)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3.6920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3.6925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0.013%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1: Outdoor w (kg/kg 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1: Outdoor h (kJ/kg da)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100.82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100.82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1: Mixed w (kg/kg 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1: Mixed h (kJ/kg da)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67.840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67.843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1: Mixed T (°C)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27.480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27.475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0.005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1: Twb Summer Day (°C)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30.300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30.305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0.005 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1: Twb Monsoon Day (°C)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32.650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32.648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0.002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2: Psat(0 °C) (kPa)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429.6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424.64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-1.15%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2: hfg(0 °C) (kJ/kg)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1261.8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1297.45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+2.83%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2: Psat(40 °C) (kPa)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1554.9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1564.00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+0.58%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2: hfg(40 °C) (kJ/kg)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1098.8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1144.95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+4.20%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2: qe Refrigerating Effect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1075.0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1098.64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+2.20%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2: m_r for 5000 kW (kg/s)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4.70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4.55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-2.13%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3: First Law Residual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0.000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0.000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3: Species Mass 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0.000 kg/s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0.000 kg/s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3: Reversible COP Bound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1.349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1.349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0.010%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3058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3: Machine Actual COP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0.531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60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2C57"/>
                          </a:solidFill>
                        </a:defRPr>
                      </a:pPr>
                      <a:r>
                        <a:t>Check 3: COP &lt; COP_rev Bound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SECTION 3: SEASONAL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 1: Seasonal Thermal Duties &amp; Ammonia Circuit Sizing (Baseline 30% Fresh Air)</a:t>
            </a:r>
          </a:p>
        </p:txBody>
      </p:sp>
      <p:pic>
        <p:nvPicPr>
          <p:cNvPr id="5" name="Picture 4" descr="plot_seasonal_du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486400" cy="30175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188720"/>
          <a:ext cx="5029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3396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Q_evap (kW)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Q_gen (kW)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COP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m_r (kg/s)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m_fg (kg/s)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Summer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4,552.9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7,725.4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4.07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55.08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Summer night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1,409.9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2,177.4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0.647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1.20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15.53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36414"/>
                          </a:solidFill>
                        </a:defRPr>
                      </a:pPr>
                      <a:r>
                        <a:t>Monsoon day*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4,908.6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8,578.7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4.45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61.17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Monsoon night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2,582.7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4,187.2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0.616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2.25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29.85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Winter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1,817.1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2,806.3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1.54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20.01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E36414"/>
                          </a:solidFill>
                        </a:defRPr>
                      </a:pPr>
                      <a:r>
                        <a:t>Winter night**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749039"/>
            <a:ext cx="5029200" cy="2743200"/>
          </a:xfrm>
          <a:prstGeom prst="roundRect">
            <a:avLst/>
          </a:prstGeom>
          <a:solidFill>
            <a:srgbClr val="F1F5F9"/>
          </a:solidFill>
          <a:ln>
            <a:solidFill>
              <a:srgbClr val="355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2C57"/>
                </a:solidFill>
              </a:defRPr>
            </a:pPr>
            <a:r>
              <a:t>Key Physical Findings &amp; Sizing Insights:</a:t>
            </a:r>
          </a:p>
          <a:p>
            <a:pPr>
              <a:spcBef>
                <a:spcPts val="300"/>
              </a:spcBef>
              <a:defRPr sz="950">
                <a:solidFill>
                  <a:srgbClr val="212529"/>
                </a:solidFill>
              </a:defRPr>
            </a:pPr>
            <a:r>
              <a:t>• *Governing Condition: Monsoon Day governs chiller size (Q_evap = 4,908.6 kW, Q_gen = 8,578.7 kW). It is NOT Summer Day (4,552.9 kW) despite Summer having a 5 °C higher dry-bulb temperature.</a:t>
            </a:r>
          </a:p>
          <a:p>
            <a:pPr>
              <a:spcBef>
                <a:spcPts val="300"/>
              </a:spcBef>
              <a:defRPr sz="950">
                <a:solidFill>
                  <a:srgbClr val="212529"/>
                </a:solidFill>
              </a:defRPr>
            </a:pPr>
            <a:r>
              <a:t>• Physical Reason: Outdoor air in Monsoon Day carries 30.6 g/kg da of moisture (vs 23.5 g/kg in Summer). The immense latent dehumidification load on the fresh air dominates the sensible reduction.</a:t>
            </a:r>
          </a:p>
          <a:p>
            <a:pPr>
              <a:spcBef>
                <a:spcPts val="300"/>
              </a:spcBef>
              <a:defRPr sz="950">
                <a:solidFill>
                  <a:srgbClr val="212529"/>
                </a:solidFill>
              </a:defRPr>
            </a:pPr>
            <a:r>
              <a:t>• Flue-Gas Envelope: Peak flue-gas flow is 61.17 kg/s, safely below the 80.0 kg/s process ceiling. Exit temperature T_fg,out = 172.5 °C stays safely above the 140 °C acid-gas dew point floor.</a:t>
            </a:r>
          </a:p>
          <a:p>
            <a:pPr>
              <a:spcBef>
                <a:spcPts val="300"/>
              </a:spcBef>
              <a:defRPr sz="950">
                <a:solidFill>
                  <a:srgbClr val="212529"/>
                </a:solidFill>
              </a:defRPr>
            </a:pPr>
            <a:r>
              <a:t>• **Turndown Violation: Winter night cooling demand drops to 0.0 kW (&lt;25% turndown threshold = 1,227 kW). The chiller must be staged off, utilizing direct water-side free cooling.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SECTION 3: HEAT REJECTION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 2: Condenser Selection, Off-Design Rating &amp; Constraint Verification</a:t>
            </a:r>
          </a:p>
        </p:txBody>
      </p:sp>
      <p:pic>
        <p:nvPicPr>
          <p:cNvPr id="5" name="Picture 4" descr="plot_condens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212080" cy="2369127"/>
          </a:xfrm>
          <a:prstGeom prst="rect">
            <a:avLst/>
          </a:prstGeom>
        </p:spPr>
      </p:pic>
      <p:pic>
        <p:nvPicPr>
          <p:cNvPr id="6" name="Picture 5" descr="plot_off_design_conden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212080" cy="36484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2C57"/>
                </a:solidFill>
              </a:defRPr>
            </a:pPr>
            <a:r>
              <a:t>Condenser Selection Verdict &amp; Constraint Audit: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1. Evaporative Condenser (RECOMMENDED): Operates against wet-bulb (Twb = 32.65 °C governing), yielding T_cond = 40.0 °C and P_high = 15.53 bar. Safe under 20.0 bar limit. High U = 600 W/m²·K requires only 1,198 m² area (UA = 718.5 kW/K). Makeup water = 373.8 m³/day at CC=4.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2. Air-Cooled Finned-Tube (REJECTED): Operates against dry-bulb (Tdb = 40.0 °C governing), resulting in T_cond = 52.0 °C and P_high = 21.60 bar — VIOLATES the 20 bar vessel design pressure limit! Furthermore, low U = 30 W/m²·K requires 22,400 m² (18.7x larger footprint).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3. Three Hard Constraints: (a) P_high ≤ 20 bar: PASSED across all conditions; (b) T_gen deliverable by 300 °C flue gas: PASSED (T_gen = 130 °C, T_fg,out = 172.5 °C ≥ 140 °C); (c) T_cond ≥ 25 °C expansion valve floor: PASSED via spray-pump head pressure control at low ambient.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SECTION 3: AUXILIARY &amp;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Tasks 3 &amp; 4: Water Decanter Sizing &amp; 40% Fresh-Air Sensitivity</a:t>
            </a:r>
          </a:p>
        </p:txBody>
      </p:sp>
      <p:pic>
        <p:nvPicPr>
          <p:cNvPr id="5" name="Picture 4" descr="plot_water_deca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212080" cy="2710282"/>
          </a:xfrm>
          <a:prstGeom prst="rect">
            <a:avLst/>
          </a:prstGeom>
        </p:spPr>
      </p:pic>
      <p:pic>
        <p:nvPicPr>
          <p:cNvPr id="6" name="Picture 5" descr="plot_fresh_air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212080" cy="28666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355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2C57"/>
                </a:solidFill>
              </a:defRPr>
            </a:pPr>
            <a:r>
              <a:t>Decanter Sizing &amp; 40% Fresh Air Sensitivity Findings: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Task 3 Decanter Sizing: Monsoon Day governs central decanter holding tank capacity at 89.7 m³/day (3,738 kg/h district, 9.35 kg/h per zone). Sizing differs from the chiller because decanter load is purely latent moisture condensation, whereas chiller load includes sensible building envelope and solar gains.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Task 4 Fresh Air Sensitivity (30% → 40%): Monsoon conditions exhibit extreme sensitivity (+19.8% coil load, +21.4% condensate rate) due to massive outdoor moisture influx. In contrast, Winter conditions exhibit negligible sensitivity (&lt;4%) because outdoor air is cool and dry.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Humidity Limit Violation &amp; Control Action: At Monsoon night with 40% fresh air, room RH drifts to 76.6% (&gt;75% ceiling). Remedy: Deep subcooling coil to ADP = 14.5 °C (removing moisture) followed by terminal reheat of 2.8 K, requiring an additional 410 kW of generator heat.</a:t>
            </a:r>
          </a:p>
          <a:p>
            <a:pPr>
              <a:spcBef>
                <a:spcPts val="200"/>
              </a:spcBef>
              <a:defRPr sz="950">
                <a:solidFill>
                  <a:srgbClr val="212529"/>
                </a:solidFill>
              </a:defRPr>
            </a:pPr>
            <a:r>
              <a:t>• Pressure &amp; Flue Limits under 40% Fresh: P_high reaches 16.2 bar (≤20 bar PASS), and peak flue-gas flow reaches 73.2 kg/s (≤80 kg/s PASS).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9688"/>
                </a:solidFill>
              </a:defRPr>
            </a:pPr>
            <a:r>
              <a:t>SECTION 4: ENGINEERING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Conclusions: Governing Envelopes &amp; Single Biggest Design Lever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2514600"/>
          </a:xfrm>
          <a:prstGeom prst="roundRect">
            <a:avLst/>
          </a:prstGeom>
          <a:solidFill>
            <a:srgbClr val="F1F5F9"/>
          </a:solidFill>
          <a:ln>
            <a:solidFill>
              <a:srgbClr val="355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2C57"/>
                </a:solidFill>
              </a:defRPr>
            </a:pPr>
            <a:r>
              <a:t>1. Component Governing Conditions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Chiller Evaporator: Monsoon Day governs peak capacity at Q_evap = 4,908.6 kW (refrigerant flow m_r = 4.45 kg/s).</a:t>
            </a:r>
            <a:br/>
            <a:r>
              <a:t>• Condenser Rejection: Monsoon Day governs evaporative heat rejection (Q_cond = 11,346.9 kW at Twb = 32.65 °C).</a:t>
            </a:r>
            <a:br/>
            <a:r>
              <a:t>• Water Decanter System: Monsoon Day governs central tank sizing (89.7 m³/day condensate drainage).</a:t>
            </a:r>
            <a:br/>
            <a:r>
              <a:t>• Physical Takeaway: High ambient humidity, not high ambient temperature, dictates HVAC &amp; chiller infrastructure sizing.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88720"/>
            <a:ext cx="5257800" cy="2514600"/>
          </a:xfrm>
          <a:prstGeom prst="roundRect">
            <a:avLst/>
          </a:prstGeom>
          <a:solidFill>
            <a:srgbClr val="F1F5F9"/>
          </a:solidFill>
          <a:ln>
            <a:solidFill>
              <a:srgbClr val="355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2C57"/>
                </a:solidFill>
              </a:defRPr>
            </a:pPr>
            <a:r>
              <a:t>2. Condenser Technology Selection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Evaporative Condenser is unconditionally recommended: U = 600 W/m²·K, Area = 1,198 m², P_high = 15.53 bar.</a:t>
            </a:r>
            <a:br/>
            <a:r>
              <a:t>• Air-Cooled Finned-Tube is unviable: P_high exceeds the 20 bar vessel design ceiling (21.60 bar), and requires 22,400 m².</a:t>
            </a:r>
            <a:br/>
            <a:r>
              <a:t>• Operational Control: Winter night turndown requires free-cooling staging; variable-speed fan maintains T_cond ≥ 25 °C.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57800" cy="2514600"/>
          </a:xfrm>
          <a:prstGeom prst="roundRect">
            <a:avLst/>
          </a:prstGeom>
          <a:solidFill>
            <a:srgbClr val="F1F5F9"/>
          </a:solidFill>
          <a:ln>
            <a:solidFill>
              <a:srgbClr val="355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2C57"/>
                </a:solidFill>
              </a:defRPr>
            </a:pPr>
            <a:r>
              <a:t>3. Waste-Heat &amp; Fresh-Air Resilience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Flue Gas Supply: Peak flow of 61.2 kg/s (30% fresh) and 73.2 kg/s (40% fresh) remains within 80.0 kg/s industrial availability.</a:t>
            </a:r>
            <a:br/>
            <a:r>
              <a:t>• Stack Integrity: Flue-gas exit temperature never drops below 172.5 °C, comfortably exceeding the 140 °C acid-gas floor.</a:t>
            </a:r>
            <a:br/>
            <a:r>
              <a:t>• Fresh Air Impact: Raising fresh air to 40% increases peak cooling by 17.2%; reheat is mandatory for monsoon night RH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40480"/>
            <a:ext cx="5257800" cy="2514600"/>
          </a:xfrm>
          <a:prstGeom prst="roundRect">
            <a:avLst/>
          </a:prstGeom>
          <a:solidFill>
            <a:srgbClr val="F1F5F9"/>
          </a:solidFill>
          <a:ln>
            <a:solidFill>
              <a:srgbClr val="E3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36414"/>
                </a:solidFill>
              </a:defRPr>
            </a:pPr>
            <a:r>
              <a:t>4. Single Biggest Engineering Design Lever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THE SOLUTION HEAT EXCHANGER (SHX) EFFECTIVENESS (ε_SHX):</a:t>
            </a:r>
            <a:br/>
            <a:r>
              <a:t>  Because the ammonia-water circulation ratio f is ~3.4–4.5, sensible solution recirculation is 3.5–4.5× the refrigerant flow!</a:t>
            </a:r>
            <a:br/>
            <a:r>
              <a:t>  Every 5% increase in ε_SHX recovers ~450 kW of generator sensible heat directly into the strong solution stream,</a:t>
            </a:r>
            <a:br/>
            <a:r>
              <a:t>  boosting seasonal COP by 8–10% and reducing flue-gas demand by 4.2 kg/s. Investing in a high-performance plate SHX yields the greatest thermodynamic and economic return.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