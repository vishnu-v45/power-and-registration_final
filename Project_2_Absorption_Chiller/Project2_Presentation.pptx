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137160" cy="3291840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601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</a:defRPr>
            </a:pPr>
            <a:r>
              <a:t>ME3160 — Power &amp; Refrigeration Systems | Final Project 2</a:t>
            </a:r>
          </a:p>
          <a:p>
            <a:pPr>
              <a:spcBef>
                <a:spcPts val="1400"/>
              </a:spcBef>
              <a:defRPr sz="3000" b="1">
                <a:solidFill>
                  <a:srgbClr val="FFFFFF"/>
                </a:solidFill>
              </a:defRPr>
            </a:pPr>
            <a:r>
              <a:t>Waste-Heat-Driven Ammonia–Water Absorption Chiller for a District Cooling Network</a:t>
            </a:r>
          </a:p>
          <a:p>
            <a:pPr>
              <a:spcBef>
                <a:spcPts val="1400"/>
              </a:spcBef>
              <a:defRPr sz="1400">
                <a:solidFill>
                  <a:srgbClr val="CBD5E1"/>
                </a:solidFill>
              </a:defRPr>
            </a:pPr>
            <a:r>
              <a:t>Comprehensive Thermodynamic Analysis: Zone Psychrometrics → District Cooling Demand → Ammonia Real-Gas EOS → Pátek &amp; Klomfar (1995) Solution Cycle → Industrial Flue-Gas Waste Heat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120640"/>
            <a:ext cx="9601200" cy="1005840"/>
          </a:xfrm>
          <a:prstGeom prst="roundRect">
            <a:avLst/>
          </a:prstGeom>
          <a:solidFill>
            <a:srgbClr val="1A3C69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Key Specifications: 1,000 Zones (40 m² each) | 2 °C Evaporator / 7–12 °C Chilled Water | 300 °C Flue Gas | Peng-Robinson Real-Gas Ammonia EOS | Pátek &amp; Klomfar (1995) Binary Thermodynamics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SECTION 1: SYSTEM SCHEMATICS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Architecture: Labelled Absorption Cycle &amp; Zone AHU Schematics</a:t>
            </a:r>
          </a:p>
        </p:txBody>
      </p:sp>
      <p:pic>
        <p:nvPicPr>
          <p:cNvPr id="5" name="Picture 4" descr="schematic_cycle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5212080" cy="3648456"/>
          </a:xfrm>
          <a:prstGeom prst="rect">
            <a:avLst/>
          </a:prstGeom>
        </p:spPr>
      </p:pic>
      <p:pic>
        <p:nvPicPr>
          <p:cNvPr id="6" name="Picture 5" descr="schematic_ahu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212080" cy="33878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577840"/>
            <a:ext cx="10728655" cy="960120"/>
          </a:xfrm>
          <a:prstGeom prst="roundRect">
            <a:avLst/>
          </a:prstGeom>
          <a:solidFill>
            <a:srgbClr val="F1F5F9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Diagrammatic Key &amp; Thermodynamic Interfaces: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(a) Cycle: Numbered states 1 to 10 show strong/weak solution circulation, SHX recuperation (ε=0.70), rectifier reflux balance, and industrial flue-gas heating (300 °C in → 155–169 °C out). (b) AHU: Fresh outdoor air (30%) mixes with recirculated room air (70%), dehumidifies on cooling coil fins at ADP, and drains condensate to central decanter.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SECTION 2: SOLUTION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Computational Algorithm: Multi-Tiered Solver Architecture &amp; Flowchart</a:t>
            </a:r>
          </a:p>
        </p:txBody>
      </p:sp>
      <p:pic>
        <p:nvPicPr>
          <p:cNvPr id="5" name="Picture 4" descr="flowchart_algorithm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6583680" cy="42793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097280"/>
            <a:ext cx="3962095" cy="5440680"/>
          </a:xfrm>
          <a:prstGeom prst="roundRect">
            <a:avLst/>
          </a:prstGeom>
          <a:solidFill>
            <a:srgbClr val="F1F5F9"/>
          </a:solidFill>
          <a:ln>
            <a:solidFill>
              <a:srgbClr val="355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2C57"/>
                </a:solidFill>
              </a:defRPr>
            </a:pPr>
            <a:r>
              <a:t>Methodological Highlights:</a:t>
            </a:r>
          </a:p>
          <a:p>
            <a:pPr>
              <a:spcBef>
                <a:spcPts val="600"/>
              </a:spcBef>
              <a:defRPr sz="950">
                <a:solidFill>
                  <a:srgbClr val="212529"/>
                </a:solidFill>
              </a:defRPr>
            </a:pPr>
            <a:r>
              <a:t>• Tier 1 Psychrometric Iteration: Rigorous moisture balance solves room humidity ratio w_room and coil ADP simultaneously; accounts for water-vapor condensate enthalpy removal.</a:t>
            </a:r>
          </a:p>
          <a:p>
            <a:pPr>
              <a:spcBef>
                <a:spcPts val="600"/>
              </a:spcBef>
              <a:defRPr sz="950">
                <a:solidFill>
                  <a:srgbClr val="212529"/>
                </a:solidFill>
              </a:defRPr>
            </a:pPr>
            <a:r>
              <a:t>• Tier 2 Mixture Physics: Complete implementation of Pátek &amp; Klomfar (1995) Table 1 (bubble point) and Table 2 (dew point), with unified 0 °C ideal-gas enthalpy scale matching Peng-Robinson EOS departures.</a:t>
            </a:r>
          </a:p>
          <a:p>
            <a:pPr>
              <a:spcBef>
                <a:spcPts val="600"/>
              </a:spcBef>
              <a:defRPr sz="950">
                <a:solidFill>
                  <a:srgbClr val="212529"/>
                </a:solidFill>
              </a:defRPr>
            </a:pPr>
            <a:r>
              <a:t>• Tier 3 Closed-Loop Cycle: Fixed UA evaporative condenser balances heat rejection against ambient wet-bulb with air-side energy balance. Dynamic generator temperature T_gen tracks condensing pressure.</a:t>
            </a:r>
          </a:p>
          <a:p>
            <a:pPr>
              <a:spcBef>
                <a:spcPts val="600"/>
              </a:spcBef>
              <a:defRPr sz="950">
                <a:solidFill>
                  <a:srgbClr val="212529"/>
                </a:solidFill>
              </a:defRPr>
            </a:pPr>
            <a:r>
              <a:t>• Rectifier Reflux Physics: Full mass and species balance on reflux column eliminates artificial fudge factors, yielding rigorous energy closure (&lt;0.0001 kW residual).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SECTION 3: MODEL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Validation Suite: Automated Assertions Across Checks 1 to 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097280"/>
          <a:ext cx="10698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  <a:gridCol w="1645920"/>
                <a:gridCol w="1828800"/>
                <a:gridCol w="1737360"/>
              </a:tblGrid>
              <a:tr h="27913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Quantity / Verification Parameter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Hand / Target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Code Output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Difference / Tolerance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1: Room Pv (kPa)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1.984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1.984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1: Room w (kg/kg da)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0.0124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0.0124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1: Room h (kJ/kg da)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53.71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53.71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1: Mixed w (kg/kg da)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0.0158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0.0158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1: Mixed h (kJ/kg da)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67.84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67.84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1: Mixed T (°C)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27.48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27.48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0.005 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1: Twb Summer Day (°C)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30.30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30.30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0.005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1: Twb Monsoon Day (°C)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32.65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32.65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0.002 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2: Psat(0 °C) (kPa)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429.6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424.64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-1.15%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2: hfg(0 °C) (kJ/kg)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1261.8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1297.45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+2.83%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2: Psat(40 °C) (kPa)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1554.9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1564.00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+0.58%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2: hfg(40 °C) (kJ/kg)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1098.8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1144.95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+4.20%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2: qe Refrig Effect (kJ/kg)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1075.0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1098.64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+2.20%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2: m_r for 5000 kW (kg/s)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4.70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4.55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-2.13%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3: First Law Residual (kW)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3: Species Mass Balance (kg/s)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0.00000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913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3: Carnot COP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1.349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914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2C57"/>
                          </a:solidFill>
                        </a:defRPr>
                      </a:pPr>
                      <a:r>
                        <a:t>Check 3: Actual COP (0.45–0.65)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0.550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0.567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212529"/>
                          </a:solidFill>
                        </a:defRPr>
                      </a:pPr>
                      <a:r>
                        <a:t>0.567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E7D32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SECTION 3: SEASONAL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Task 1: Seasonal Thermal Duties &amp; Psychrometric State Trajectories</a:t>
            </a:r>
          </a:p>
        </p:txBody>
      </p:sp>
      <p:pic>
        <p:nvPicPr>
          <p:cNvPr id="5" name="Picture 4" descr="plot_psychrometri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5212080" cy="3387852"/>
          </a:xfrm>
          <a:prstGeom prst="rect">
            <a:avLst/>
          </a:prstGeom>
        </p:spPr>
      </p:pic>
      <p:pic>
        <p:nvPicPr>
          <p:cNvPr id="6" name="Picture 5" descr="plot_seasonal_du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212080" cy="286664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355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Key Seasonal Thermodynamics Insights: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• Governing Peak: Monsoon Day dictates peak district chiller capacity (Q_evap = 4,908.6 kW, Q_gen = 8,193.3 kW, m_r = 4.46 kg/s). It dominates over Summer Day (4,552.9 kW) because moisture ratio w_oa = 30.6 g/kg da requires massive latent dehumidification.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• Latent vs Sensible: Latent load represents &gt;50% of the total cooling duty at Monsoon Day, proving that moisture management governs commercial HVAC infrastructure in hot-humid climates.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• Turndown &amp; Free Cooling: Winter Night load drops to 0.0 kW (&lt;25% turndown threshold = 1,227.1 kW). The absorption chiller is shut down, engaging direct waterside free cooling to eliminate boiler and pump energy consumption.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• Flue-Gas Envelope: Peak flue-gas demand is 56.76 kg/s (safely below 80.0 kg/s limit). Stack exit temperature is 154.5–168.8 °C (well above 140 °C acid-gas dew point floor).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SECTION 3: HEAT REJECTION SIZING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Task 2: Condenser Selection, Off-Design Rating &amp; Constraint Verification</a:t>
            </a:r>
          </a:p>
        </p:txBody>
      </p:sp>
      <p:pic>
        <p:nvPicPr>
          <p:cNvPr id="5" name="Picture 4" descr="plot_condens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5212080" cy="2369127"/>
          </a:xfrm>
          <a:prstGeom prst="rect">
            <a:avLst/>
          </a:prstGeom>
        </p:spPr>
      </p:pic>
      <p:pic>
        <p:nvPicPr>
          <p:cNvPr id="6" name="Picture 5" descr="plot_off_design_conden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212080" cy="36484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Condenser Selection Verdict &amp; Constraint Audit: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1. Evaporative Condenser (RECOMMENDED): Approaches wet-bulb (Twb = 32.65 °C governing), yielding T_cond = 40.0 °C and P_high = 15.64 bar. Safe under 20.0 bar vessel limit. High U = 600 W/m²·K requires 2,422 m² area (UA = 1,453.4 kW/K). Makeup water = 247.0 m³/day at CC=4.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2. Air-Cooled Finned-Tube (REJECTED): Approaches dry-bulb (Tdb = 40.0 °C governing), resulting in T_cond = 52.0 °C and P_high = 21.54 bar — VIOLATES the 20 bar vessel design pressure limit! Furthermore, low U = 30 W/m²·K requires 28,604 m² (11.8x larger footprint).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3. Three Hard Constraints: (a) P_high ≤ 20 bar: PASSED across all conditions; (b) T_gen deliverable by 300 °C flue gas: PASSED (T_gen = 125.0 °C, T_fg,out = 168.8 °C ≥ 140 °C); (c) T_cond ≥ 25 °C expansion valve floor: PASSED via spray-pump head pressure control at low ambient.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SECTION 3: AUXILIARY &amp;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Tasks 3 &amp; 4: Water Decanter Sizing &amp; 40% Fresh-Air Sensitivity</a:t>
            </a:r>
          </a:p>
        </p:txBody>
      </p:sp>
      <p:pic>
        <p:nvPicPr>
          <p:cNvPr id="5" name="Picture 4" descr="plot_water_deca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5212080" cy="2710282"/>
          </a:xfrm>
          <a:prstGeom prst="rect">
            <a:avLst/>
          </a:prstGeom>
        </p:spPr>
      </p:pic>
      <p:pic>
        <p:nvPicPr>
          <p:cNvPr id="6" name="Picture 5" descr="plot_fresh_air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212080" cy="286664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355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Decanter Sizing &amp; 40% Fresh Air Sensitivity Findings: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• Task 3 Decanter Sizing: Monsoon Day governs central decanter holding capacity at 89.7 m³/day (3,738 kg/h district, 9.35 kg/h per zone). Sizing differs from the chiller because decanter load is purely latent moisture condensation, whereas chiller load includes sensible envelope and solar gains.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• Task 4 Fresh Air Sensitivity (30% → 40%): Monsoon conditions exhibit extreme sensitivity (+22.2% coil load, +30.8% condensate rate) due to massive outdoor moisture influx. In contrast, Winter conditions exhibit negligible sensitivity (&lt;4%) because outdoor air is cool and dry.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• Humidity Limit Violation &amp; Dynamic Reheat: At Monsoon night with 40% fresh air, room RH drifts to 76.6% (&gt;75% ceiling). Remedy: Deep subcooling coil to ADP = 15.16 °C followed by terminal reheat of ΔT = 1.19 K (1.80 kW/zone), adding 1,929.0 kW district cooling and 2,998.8 kW extra generator heat.</a:t>
            </a:r>
          </a:p>
          <a:p>
            <a:pPr>
              <a:spcBef>
                <a:spcPts val="200"/>
              </a:spcBef>
              <a:defRPr sz="900">
                <a:solidFill>
                  <a:srgbClr val="212529"/>
                </a:solidFill>
              </a:defRPr>
            </a:pPr>
            <a:r>
              <a:t>• Pressure &amp; Flue Limits under 40% Fresh: P_high reaches 16.2 bar (≤20 bar PASS), and peak flue-gas flow reaches 71.4 kg/s (≤80 kg/s PASS).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SECTION 4: ENGINEERING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Executive Conclusions: Governing Envelopes &amp; Single Biggest Design Lever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5257800" cy="2514600"/>
          </a:xfrm>
          <a:prstGeom prst="roundRect">
            <a:avLst/>
          </a:prstGeom>
          <a:solidFill>
            <a:srgbClr val="F1F5F9"/>
          </a:solidFill>
          <a:ln>
            <a:solidFill>
              <a:srgbClr val="355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2C57"/>
                </a:solidFill>
              </a:defRPr>
            </a:pPr>
            <a:r>
              <a:t>1. Component Governing Conditions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• Chiller Evaporator: Monsoon Day governs peak capacity at Q_evap = 4,908.6 kW (refrigerant flow m_r = 4.46 kg/s).</a:t>
            </a:r>
            <a:br/>
            <a:r>
              <a:t>• Condenser Rejection: Monsoon Day governs evaporative heat rejection (Q_cond = 5,146.0 kW at Twb = 32.65 °C).</a:t>
            </a:r>
            <a:br/>
            <a:r>
              <a:t>• Water Decanter System: Monsoon Day governs central tank sizing (89.7 m³/day condensate drainage).</a:t>
            </a:r>
            <a:br/>
            <a:r>
              <a:t>• Physical Takeaway: High ambient humidity, not high ambient temperature, dictates HVAC &amp; chiller infrastructure sizing.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097280"/>
            <a:ext cx="5257800" cy="2514600"/>
          </a:xfrm>
          <a:prstGeom prst="roundRect">
            <a:avLst/>
          </a:prstGeom>
          <a:solidFill>
            <a:srgbClr val="F1F5F9"/>
          </a:solidFill>
          <a:ln>
            <a:solidFill>
              <a:srgbClr val="355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2C57"/>
                </a:solidFill>
              </a:defRPr>
            </a:pPr>
            <a:r>
              <a:t>2. Condenser Technology Selection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• Evaporative Condenser is unconditionally recommended: U = 600 W/m²·K, Area = 2,422 m², P_high = 15.64 bar.</a:t>
            </a:r>
            <a:br/>
            <a:r>
              <a:t>• Air-Cooled Finned-Tube is unviable: P_high exceeds the 20 bar vessel design ceiling (21.54 bar), and requires 28,604 m².</a:t>
            </a:r>
            <a:br/>
            <a:r>
              <a:t>• Operational Control: Winter night turndown requires free-cooling staging; variable-speed fan maintains T_cond ≥ 25 °C.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57800" cy="2514600"/>
          </a:xfrm>
          <a:prstGeom prst="roundRect">
            <a:avLst/>
          </a:prstGeom>
          <a:solidFill>
            <a:srgbClr val="F1F5F9"/>
          </a:solidFill>
          <a:ln>
            <a:solidFill>
              <a:srgbClr val="355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2C57"/>
                </a:solidFill>
              </a:defRPr>
            </a:pPr>
            <a:r>
              <a:t>3. Waste-Heat &amp; Fresh-Air Resilience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• Flue Gas Supply: Peak flow of 56.8 kg/s (30% fresh) and 71.4 kg/s (40% fresh) remains within 80.0 kg/s industrial availability.</a:t>
            </a:r>
            <a:br/>
            <a:r>
              <a:t>• Stack Integrity: Flue-gas exit temperature never drops below 154.5 °C, comfortably exceeding the 140 °C acid-gas floor.</a:t>
            </a:r>
            <a:br/>
            <a:r>
              <a:t>• Fresh Air Impact: Raising fresh air to 40% increases peak cooling by 22.2%; terminal reheat of 1.19 K is mandatory for monsoon night RH control.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49039"/>
            <a:ext cx="5257800" cy="2514600"/>
          </a:xfrm>
          <a:prstGeom prst="roundRect">
            <a:avLst/>
          </a:prstGeom>
          <a:solidFill>
            <a:srgbClr val="F1F5F9"/>
          </a:solidFill>
          <a:ln>
            <a:solidFill>
              <a:srgbClr val="E36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E36414"/>
                </a:solidFill>
              </a:defRPr>
            </a:pPr>
            <a:r>
              <a:t>4. Single Biggest Engineering Design Lever</a:t>
            </a:r>
          </a:p>
          <a:p>
            <a:pPr>
              <a:spcBef>
                <a:spcPts val="300"/>
              </a:spcBef>
              <a:defRPr sz="950">
                <a:solidFill>
                  <a:srgbClr val="212529"/>
                </a:solidFill>
              </a:defRPr>
            </a:pPr>
            <a:r>
              <a:t>• THE SOLUTION HEAT EXCHANGER (SHX) EFFECTIVENESS (ε_SHX):</a:t>
            </a:r>
            <a:br/>
            <a:r>
              <a:t>  Because the ammonia-water circulation ratio f is ~3.7, sensible solution recirculation is 3.7× the refrigerant flow!</a:t>
            </a:r>
            <a:br/>
            <a:r>
              <a:t>  Eliminating the SHX increases generator heat demand by 3,460.5 kW (+42%), collapsing COP from 0.597 down to 0.442.</a:t>
            </a:r>
            <a:br/>
            <a:r>
              <a:t>  Increasing ε_SHX from 0.70 to 0.80 saves an additional 494.4 kW of generator heat. Investing in a high-effectiveness plate SHX yields the single highest thermodynamic and financial return in the plant.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