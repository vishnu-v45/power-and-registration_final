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B4D2F0"/>
                </a:solidFill>
              </a:defRPr>
            </a:pPr>
            <a:r>
              <a:t>ME3160 Power &amp; Refrigeration Cycles — Term Project 1</a:t>
            </a:r>
          </a:p>
          <a:p>
            <a:pPr>
              <a:spcBef>
                <a:spcPts val="1500"/>
              </a:spcBef>
              <a:defRPr sz="3600" b="1">
                <a:solidFill>
                  <a:srgbClr val="FFFFFF"/>
                </a:solidFill>
              </a:defRPr>
            </a:pPr>
            <a:r>
              <a:t>Surrogate-Assisted Optimization of a</a:t>
            </a:r>
            <a:br/>
            <a:r>
              <a:t>Methane-Fired Combined Cycle Plant</a:t>
            </a:r>
          </a:p>
          <a:p>
            <a:pPr>
              <a:spcBef>
                <a:spcPts val="2000"/>
              </a:spcBef>
              <a:defRPr sz="1500">
                <a:solidFill>
                  <a:srgbClr val="DCE6F5"/>
                </a:solidFill>
              </a:defRPr>
            </a:pPr>
            <a:r>
              <a:t>Physics-Based Thermodynamic Modeling, Latin Hypercube Sampling,</a:t>
            </a:r>
            <a:br/>
            <a:r>
              <a:t>Surrogate Modeling (RSM &amp; ANN), and Bi-Objective Genetic Algorithm (NSGA-II)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65A9"/>
                </a:solidFill>
              </a:defRPr>
            </a:pPr>
            <a:r>
              <a:t>1. SCHEMATIC</a:t>
            </a:r>
          </a:p>
          <a:p>
            <a:pPr>
              <a:defRPr sz="2200" b="1">
                <a:solidFill>
                  <a:srgbClr val="102C57"/>
                </a:solidFill>
              </a:defRPr>
            </a:pPr>
            <a:r>
              <a:t>Section 1: Plant Layout, Cycle Architecture &amp; State Point Definition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t>Topping Brayton Cycle (Methane Fired)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Compressor: Ambient air (1.013 bar, 298 K, 21% O2 / 79% N2) compressed to rp with isentropic efficiency ηc = 0.86.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State 1: Ambient inlet (101.3 kPa, 298.15 K).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State 2s / 2: Compressor delivery at P2 = rp * P1, solved via entropy function s^0(T) approach (Variable Cp).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Combustor: Methane (LHV = 50 MJ/kg) burned with excess air at constant pressure; combustion efficiency ηf = 0.98.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State 3: Combustor exit / Turbine inlet at TIT (1200 - 1500 K).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Gas Turbine: Expands products (CO2, H2O, O2, N2) to 1.05 bar with isentropic efficiency ηt = 0.89.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State 4: Gas turbine exhaust entering HRSG (coupled to rp and TIT, carbon-steel ceiling &lt;= 650 °C).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t>Bottoming Rankine Cycle (Single-Pressure HRSG)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HRSG: Exhaust gas flows counter-currently through superheater, evaporator, and economizer (gas pressure drop = 3 kPa).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State 5: Superheated steam at (Ps, Ts) entering steam turbine.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Steam Turbine: Expands to condenser pressure Pcond (0.05 - 0.15 bar) with ηst = 0.85.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State 6s / 6: Turbine exhaust; exit vapor quality x6 must be &gt;= 0.88 to prevent blade erosion.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Condenser: Rejects heat to cooling medium; leaves as saturated liquid (State 7).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Feed Pump: Pumps condensate from Pcond to drum pressure Ps with ηpump = 0.80.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State 8: Subcooled compressed liquid entering economizer at (Ps, T8).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Pinch-Point Constraints: ΔTpinch &gt;= 10 K (evaporator) and ΔTapproach &gt;= 5 K (superheater).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65A9"/>
                </a:solidFill>
              </a:defRPr>
            </a:pPr>
            <a:r>
              <a:t>2. ALGORITHM</a:t>
            </a:r>
          </a:p>
          <a:p>
            <a:pPr>
              <a:defRPr sz="2200" b="1">
                <a:solidFill>
                  <a:srgbClr val="102C57"/>
                </a:solidFill>
              </a:defRPr>
            </a:pPr>
            <a:r>
              <a:t>Section 2: Solution Algorithm &amp; Machine Learning Pipeline Flowchart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t>A. Physics-Based Direct Solver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Variable-Cp Integration: Species Cp(T) from Borgnakke Table A.6 integrated for h(T) and s^0(T).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Isentropic Expansion: Solves s^0(T_exit) - s^0(T_in) = R*ln(Pratio) using 1D Brent root-finder.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Combustor Energy Balance: Iterates equivalence ratio phi to match TIT given fuel LHV and product mixture.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HRSG Pinch Analysis: Identifies evaporator pinch point (Tsat + 10 K) to determine maximum steam generation m_dot_s.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Stack Temperature: Energy balance across economizer yields stack gas T_stack (must be &gt;= 100 °C).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60020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t>B. Design of Experiments &amp; Surrogates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Latin Hypercube Sampling: 5D design space sampled with N = 500 points (scipy.stats.qmc).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Feasibility Labeling: Evaluates all 6 constraint margins for each sample; keeps infeasible rows labeled.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Surrogate Model 1 (RSM): Full quadratic polynomial with interaction terms fitted via OLS with ANOVA analysis.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Surrogate Model 2 (ANN): Multilayer perceptron (30-20 hidden layers, ReLU) with standard feature scaling.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Statistical Validation: Evaluated on 80/20 train/test split (R², RMSE, and parity plots).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60020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t>C. Optimization &amp; Adaptive Loop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Genetic Algorithm (pymoo): Single-objective GA optimizes surrogate to find candidate x*.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Direct Model Verification: Re-evaluates x* in full physical model; computes gap = |η_surr - η_dir|.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Adaptive Refinement: If gap &gt; 0.20 pp, samples 50 points locally around x*, refits surrogate, and re-optimizes.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Sensitivity Study: Re-optimizes across HRSG inlet limits (600 °C, 650 °C, 700 °C) to find active constraints.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Bi-Objective Pareto Front: NSGA-II simultaneously maximizes η_cc and W_net.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65A9"/>
                </a:solidFill>
              </a:defRPr>
            </a:pPr>
            <a:r>
              <a:t>3. ANALYSIS: VALIDATION</a:t>
            </a:r>
          </a:p>
          <a:p>
            <a:pPr>
              <a:defRPr sz="2200" b="1">
                <a:solidFill>
                  <a:srgbClr val="102C57"/>
                </a:solidFill>
              </a:defRPr>
            </a:pPr>
            <a:r>
              <a:t>Section 3: Model Validation Against Hand-Traceable Benchmarks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926080"/>
                <a:gridCol w="1371600"/>
                <a:gridCol w="1371600"/>
                <a:gridCol w="1371600"/>
                <a:gridCol w="1371600"/>
              </a:tblGrid>
              <a:tr h="323088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Component / Check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Hand Value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Code Output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% Difference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02C57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1: Gas Turbine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T2s (K)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641.20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641.12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0.013%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(&lt;0.5%)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1: Gas 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T2 (actual, 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694.70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694.66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1: Gas Turbine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T4s (K)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707.30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707.26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0.006%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(&lt;0.5%)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1: Gas 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T4 (actual, 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787.70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787.91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1: Gas Turbine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Compressor Work wc (kJ/kg)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407.40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407.42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0.005%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(&lt;0.5%)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1: Gas 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Turbine Work wt (kJ/kg)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706.50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706.52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1: Gas Turbine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Net Work wnet (kJ/kg)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299.10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299.10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0.001%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(&lt;0.5%)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1: Gas 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Thermal Efficiency ηth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37.05%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37.05%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2: Rankine Cycle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Turbine Inlet Enthalpy h5 (kJ/kg)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3344.00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3344.84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0.025%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(&lt;0.1%)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2: Rankine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Isentropic Quality x6s (-)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2: Rankine Cycle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Actual Quality x6 (-)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0.919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0.919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0.009%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(&lt;0.2%)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2: Rankine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Steam Turbine Work wst (kJ/kg)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965.20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965.44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(&lt;0.1%)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2: Rankine Cycle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Rankine Efficiency ηRankine (%)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30.30%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30.31%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0.047%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(&lt;0.1%)</a:t>
                      </a:r>
                    </a:p>
                  </a:txBody>
                  <a:tcPr>
                    <a:solidFill>
                      <a:srgbClr val="EBF3FA"/>
                    </a:solidFill>
                  </a:tcPr>
                </a:tc>
              </a:tr>
              <a:tr h="32308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Check 3: Energy Balance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First Law Plant Closure (%)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0.000%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28B22"/>
                          </a:solidFill>
                        </a:defRPr>
                      </a:pPr>
                      <a:r>
                        <a:t>PASS (&lt;0.01%)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65A9"/>
                </a:solidFill>
              </a:defRPr>
            </a:pPr>
            <a:r>
              <a:t>3. ANALYSIS: SURROGATES</a:t>
            </a:r>
          </a:p>
          <a:p>
            <a:pPr>
              <a:defRPr sz="2200" b="1">
                <a:solidFill>
                  <a:srgbClr val="102C57"/>
                </a:solidFill>
              </a:defRPr>
            </a:pPr>
            <a:r>
              <a:t>Section 3: Surrogate Quality, ANOVA &amp; Parity Analysis</a:t>
            </a:r>
          </a:p>
        </p:txBody>
      </p:sp>
      <p:pic>
        <p:nvPicPr>
          <p:cNvPr id="3" name="Picture 2" descr="plot_parit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2821577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589520" y="1463040"/>
            <a:ext cx="38404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6002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t>Statistical Modeling Insights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Model Comparison: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Full Quadratic RSM: R² = 0.9965, RMSE = 0.133 pp. Outstanding generalization on continuous thermodynamics.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Multilayer Perceptron ANN: R² = 0.9799, RMSE = 0.318 pp.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ANOVA Key Factor Insights: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TIT and Compression Ratio (rp) explain &gt;78% of total variance in thermal efficiency.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Interaction term (rp * TIT) is strongly statistically significant (p &lt; 0.001).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Steam drum pressure Ps exhibits positive curvature (I(Ps²)) with diminishing returns above 45 bar.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Failure Mode Discussion: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Quadratic RSM exhibits mild bias near active pinch boundaries (economizer inlet) due to slope discontinuity in pinch transitions.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Adaptive refinement resolves this by localized sampling.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65A9"/>
                </a:solidFill>
              </a:defRPr>
            </a:pPr>
            <a:r>
              <a:t>3. ANALYSIS: OPTIMUM</a:t>
            </a:r>
          </a:p>
          <a:p>
            <a:pPr>
              <a:defRPr sz="2200" b="1">
                <a:solidFill>
                  <a:srgbClr val="102C57"/>
                </a:solidFill>
              </a:defRPr>
            </a:pPr>
            <a:r>
              <a:t>Section 3: Optimal Operating Point &amp; HRSG Heat Exchange (T-Q Diagram)</a:t>
            </a:r>
          </a:p>
        </p:txBody>
      </p:sp>
      <p:pic>
        <p:nvPicPr>
          <p:cNvPr id="3" name="Picture 2" descr="plot_t_q_hrs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145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223760" y="1463040"/>
            <a:ext cx="42062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0" y="160020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t>Optimal Operating Point Metrics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Optimal Design Variables: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Compression ratio rp = 21.68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Turbine inlet temperature TIT = 1500.0 K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Steam drum pressure Ps = 46.48 bar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Superheat outlet temp Ts = 539.4 °C (812.6 K)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Condenser pressure Pcond = 0.0500 bar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Performance Metrics: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Combined cycle efficiency ηcc = 53.33%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Total net power Wnet = 55.30 MW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Gas turbine power = 39.06 MW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Steam turbine power = 16.25 MW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Specific work = 553.03 kJ/kg air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Bottoming-to-topping work ratio = 0.4160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HRSG effectiveness = 78.50%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Feasibility &amp; Constraint Margins: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Gas entering HRSG T4 = 556.8 °C (&lt; 650 °C limit, margin +93.2 K)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Stack gas temp = 145.0 °C (&gt;= 100 °C dew point limit)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Steam quality x6 = 0.9244 (&gt;= 0.88 erosion limit)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Equivalence ratio phi = 0.3552 (&lt; 0.50 NOx limit)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65A9"/>
                </a:solidFill>
              </a:defRPr>
            </a:pPr>
            <a:r>
              <a:t>3. ANALYSIS: SENSITIVITY</a:t>
            </a:r>
          </a:p>
          <a:p>
            <a:pPr>
              <a:defRPr sz="2200" b="1">
                <a:solidFill>
                  <a:srgbClr val="102C57"/>
                </a:solidFill>
              </a:defRPr>
            </a:pPr>
            <a:r>
              <a:t>Section 3: Materials Sensitivity Study (HRSG Inlet Gas Limit)</a:t>
            </a:r>
          </a:p>
        </p:txBody>
      </p:sp>
      <p:pic>
        <p:nvPicPr>
          <p:cNvPr id="3" name="Picture 2" descr="plot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943600" cy="371475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949440" y="1463040"/>
            <a:ext cx="44805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002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t>Physical Interpretation &amp; Materials Allocation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Sensitivity Study Findings: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600 °C Limit: ηcc = 53.33%, Wnet = 55.30 MW (T4 = 556.8 °C).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650 °C Limit: ηcc = 53.33%, Wnet = 55.30 MW (T4 = 556.8 °C).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700 °C Limit: ηcc = 53.33%, Wnet = 55.30 MW (T4 = 556.8 °C).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Constraint Activity Analysis: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The optimum compression ratio (rp ≈ 21.7) at TIT = 1500 K naturally yields an exhaust temperature of T4 = 556.8 °C.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Because T4 = 556.8 °C is strictly below 600 °C, the carbon-steel tube limit constraint (Constraint ii) is inactive at the optimum!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Relaxing the HRSG tube limit from 650 °C to 700 °C provides ZERO efficiency gain because the topping Brayton cycle already operates at optimal expansion.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Engineering Capital Allocation: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Materials money should NOT be spent upgrading HRSG tubes from carbon steel to high-alloy stainless steel.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Instead, R&amp;D capital should be directed to turbine blade coatings to allow higher TIT (e.g. TIT &gt; 1500 K with ceramic thermal barrier coatings), where efficiency gains are dramatic.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65A9"/>
                </a:solidFill>
              </a:defRPr>
            </a:pPr>
            <a:r>
              <a:t>4. PARETO PLOT</a:t>
            </a:r>
          </a:p>
          <a:p>
            <a:pPr>
              <a:defRPr sz="2200" b="1">
                <a:solidFill>
                  <a:srgbClr val="102C57"/>
                </a:solidFill>
              </a:defRPr>
            </a:pPr>
            <a:r>
              <a:t>Section 4: Bi-Objective Pareto Front (Thermal Efficiency vs Net Power)</a:t>
            </a:r>
          </a:p>
        </p:txBody>
      </p:sp>
      <p:pic>
        <p:nvPicPr>
          <p:cNvPr id="3" name="Picture 2" descr="plot_pareto_fro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943600" cy="39624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949440" y="1463040"/>
            <a:ext cx="448056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6002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t>Trade-off Analysis &amp; Operational Recommendation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Pareto Front Extraction (NSGA-II):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100 non-dominated designs extracted spanning from 52.80% to 53.39% efficiency, and 55.3 MW to 61.8 MW net power.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Physical Trade-Off Mechanism: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Maximizing thermal efficiency (ηcc) favors higher compression ratios (rp ≈ 22) and high steam drum pressures (Ps ≈ 46 bar), maximizing combined exergy recovery.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Maximizing net power (Wnet) favors slightly lower pressure ratios (rp ≈ 16 - 18) where gas turbine specific work (kJ/kg air) peaks, allowing higher flue gas mass flow and larger bottoming steam output.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Design Decision Recommendation: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For a baseload utility plant, fuel cost dominates lifetime levelized cost of electricity (LCOE).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We recommend operating near the high-efficiency elbow: ηcc = 53.25%, Wnet = 57.5 MW.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This captures 99.8% of maximum efficiency while gaining +2.2 MW (+4.0%) of additional electrical output for minimal marginal capital investment.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65A9"/>
                </a:solidFill>
              </a:defRPr>
            </a:pPr>
            <a:r>
              <a:t>5. CONCLUSION</a:t>
            </a:r>
          </a:p>
          <a:p>
            <a:pPr>
              <a:defRPr sz="2200" b="1">
                <a:solidFill>
                  <a:srgbClr val="102C57"/>
                </a:solidFill>
              </a:defRPr>
            </a:pPr>
            <a:r>
              <a:t>Section 5: Final Recommendations, Binding Constraints &amp; Design Levers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t>Recommended Operating Point Summary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Optimal Design Parameters: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Compression ratio rp = 21.68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Turbine inlet temperature TIT = 1500.0 K (1226.85 °C)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Steam drum pressure Ps = 46.48 bar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Superheat steam temperature Ts = 539.4 °C (812.6 K)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Condenser back-pressure Pcond = 0.0500 bar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Performance Metrics: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Overall Combined-Cycle Efficiency: 53.33%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Total Plant Net Power Output: 55.30 MW (for 100 kg/s air flow)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Specific Work: 553.03 kJ/kg air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Bottoming-to-Topping Work Ratio: 0.4160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HRSG Thermal Effectiveness: 78.50%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Computational Pipeline Performance: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LHS + Surrogate required only 500 direct physics runs (vs 3.2 million for full grid search: 6,400x compute reduction).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Adaptive refinement verified prediction to within 0.0635 pp gap.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D7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2C57"/>
                </a:solidFill>
              </a:defRPr>
            </a:pPr>
            <a:r>
              <a:t>Active Constraints &amp; Biggest Improvement Levers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Binding Constraints at Optimum: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1. Turbine Inlet Temperature (TIT): Active at upper bound (1500 K) set by uncooled nickel superalloys.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2. Superheater Approach Temp (ΔTapproach): Active at ΔTapproach = 17.4 K (well above 5 K minimum).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3. Steam Turbine Exit Quality: x6 = 0.924 satisfies the erosion limit (x6 &gt;= 0.88).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4. Gas Entering HRSG: T4 = 556.8 °C leaves 93.2 K safety margin below the 650 °C carbon-steel limit.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Inactive Constraints: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Stack gas temperature (145 °C vs 100 °C dew point ceiling).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Combustor equivalence ratio (phi = 0.355 vs 0.50 NOx ceiling).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The Single Biggest Design Lever: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Turbine Inlet Temperature (TIT): Elevating TIT with advanced blade cooling or thermal barrier coatings (TBC) to 1600+ K increases combined cycle efficiency by +2.5 to +3.8 pp.</a:t>
            </a:r>
          </a:p>
          <a:p>
            <a:pPr>
              <a:spcAft>
                <a:spcPts val="400"/>
              </a:spcAft>
              <a:defRPr sz="1100">
                <a:solidFill>
                  <a:srgbClr val="282828"/>
                </a:solidFill>
              </a:defRPr>
            </a:pPr>
            <a:r>
              <a:t>• • Bottoming cycle dual-pressure HRSG: Adding an intermediate pressure drum would capture additional exergy, reducing stack loss to 105 °C and lifting plant efficiency above 56%.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