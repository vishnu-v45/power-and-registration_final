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D2F0"/>
                </a:solidFill>
              </a:defRPr>
            </a:pPr>
            <a:r>
              <a:t>ME3160 Power &amp; Refrigeration Cycles — Final Term Project 1</a:t>
            </a:r>
          </a:p>
          <a:p>
            <a:pPr>
              <a:spcBef>
                <a:spcPts val="1500"/>
              </a:spcBef>
              <a:defRPr sz="3600" b="1">
                <a:solidFill>
                  <a:srgbClr val="FFFFFF"/>
                </a:solidFill>
              </a:defRPr>
            </a:pPr>
            <a:r>
              <a:t>Surrogate-Assisted Optimization of a</a:t>
            </a:r>
            <a:br/>
            <a:r>
              <a:t>Methane-Fired Combined Cycle Plant</a:t>
            </a:r>
          </a:p>
          <a:p>
            <a:pPr>
              <a:spcBef>
                <a:spcPts val="2000"/>
              </a:spcBef>
              <a:defRPr sz="1500">
                <a:solidFill>
                  <a:srgbClr val="DCE6F5"/>
                </a:solidFill>
              </a:defRPr>
            </a:pPr>
            <a:r>
              <a:t>Physics-Based Thermodynamic Modeling, Latin Hypercube Sampling,</a:t>
            </a:r>
            <a:br/>
            <a:r>
              <a:t>Surrogate Modeling (RSM &amp; ANN), Trust-Region Adaptive Refinement &amp; NSGA-II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1. SCHEMATIC</a:t>
            </a:r>
          </a:p>
          <a:p>
            <a:pPr>
              <a:defRPr sz="2100" b="1">
                <a:solidFill>
                  <a:srgbClr val="102C57"/>
                </a:solidFill>
              </a:defRPr>
            </a:pPr>
            <a:r>
              <a:t>Section 1: Plant Layout, Cycle Architecture &amp; State Point Definition</a:t>
            </a:r>
          </a:p>
        </p:txBody>
      </p:sp>
      <p:pic>
        <p:nvPicPr>
          <p:cNvPr id="3" name="Picture 2" descr="schematic_cycle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675120" cy="381435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463040"/>
            <a:ext cx="3840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60020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Plant Architecture &amp; Numbered States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State 1: Intake air (1.013 bar, 298 K, 100 kg/s).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State 2: Compressor exit (P2 = rp * P1, variable Cp entropy function).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Combustor: Methane LHV = 50 MJ/kg, ηcomb = 0.98, φ &lt;= 0.5 for NOx control.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State 3: Turbine inlet (TIT &lt;= 1500 K uncooled limit).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State 4: Turbine exhaust (coupled to rp, T4 &lt;= 650 °C carbon-steel limit).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HRSG: Counterflow economizer, evaporator, drum &amp; superheater (ΔP = 3 kPa).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State 5: Superheated steam at (Ps, Ts) entering steam turbine.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State 6: Steam turbine exhaust (x6 &gt;= 0.88 erosion ceiling, ηst = 0.85).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State 7: Condenser exit (saturated liquid at Pcond = 0.05 - 0.15 bar).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State 8: Feed pump discharge (ηpump = 0.80) to economizer.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2. ALGORITHM</a:t>
            </a:r>
          </a:p>
          <a:p>
            <a:pPr>
              <a:defRPr sz="2100" b="1">
                <a:solidFill>
                  <a:srgbClr val="102C57"/>
                </a:solidFill>
              </a:defRPr>
            </a:pPr>
            <a:r>
              <a:t>Section 2: Solution Algorithm &amp; Machine Learning Pipeline Flowchart</a:t>
            </a:r>
          </a:p>
        </p:txBody>
      </p:sp>
      <p:pic>
        <p:nvPicPr>
          <p:cNvPr id="3" name="Picture 2" descr="flowchart_pipeline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675120" cy="429114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463040"/>
            <a:ext cx="3840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60020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Algorithmic Solution Stages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A. Direct Physics Solver: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Variable Cp polynomials from Borgnakke Table A.6.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Newton-Raphson combustor energy balance matching TIT.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Counterflow HRSG pinch solver (ΔTpinch &gt;= 10 K).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B. Design of Experiments: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5-D Latin Hypercube Sampling (N = 500 designs).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Evaluates ηcc, Wnet, and all 6 constraint margins.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C. Surrogate Fitting &amp; ANOVA: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Full Quadratic RSM with ANOVA statistical analysis.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Multilayer Perceptron ANN with 5-fold CV tuning.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D. Adaptive GA &amp; Bi-Objective Loop: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Single-objective GA finds candidate optimum.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Direct model verification checks gap &lt;= 0.20 pp.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Trust-region localized refinement resolves boundary gaps.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NSGA-II bi-objective extraction of Pareto front.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PART A: DIRECT MODEL</a:t>
            </a:r>
          </a:p>
          <a:p>
            <a:pPr>
              <a:defRPr sz="2100" b="1">
                <a:solidFill>
                  <a:srgbClr val="102C57"/>
                </a:solidFill>
              </a:defRPr>
            </a:pPr>
            <a:r>
              <a:t>Part A: Topping Gas Turbine Alone Analysis (η_gt vs Compression Ratio)</a:t>
            </a:r>
          </a:p>
        </p:txBody>
      </p:sp>
      <p:pic>
        <p:nvPicPr>
          <p:cNvPr id="3" name="Picture 2" descr="plot_gt_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803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463040"/>
            <a:ext cx="42062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1600200"/>
            <a:ext cx="3840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Brayton Cycle Optimum Findings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Gas Turbine Alone Characteristics (TIT = 1400 K):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Peak thermal efficiency ηGT = 37.89% occurs at rp ≈ 31.0.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Specific work peaks at a lower compression ratio (rp ≈ 15 - 18).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Exhaust temperature T4 drops monotonically from 720 °C at rp = 4 to 455 °C at rp = 35.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Combined-Cycle Coupling Impact: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Higher rp raises topping gas turbine efficiency but degrades exhaust temperature T4, choking bottoming steam production in the HRSG.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The combined-cycle optimum settles at an intermediate pressure ratio (rp ≈ 20–22), balancing topping expansion work and bottoming exergy recovery.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3. ANALYSIS: VALIDATION</a:t>
            </a:r>
          </a:p>
          <a:p>
            <a:pPr>
              <a:defRPr sz="2100" b="1">
                <a:solidFill>
                  <a:srgbClr val="102C57"/>
                </a:solidFill>
              </a:defRPr>
            </a:pPr>
            <a:r>
              <a:t>Section 3: Model Validation Against Hand-Traceable Benchmarks (Checks 1 to 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1371600"/>
                <a:gridCol w="137160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Component / Check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Code Output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% Diff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Check 1: Gas Turbine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T2s (K)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641.20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641.12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0.013%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</a:defRPr>
                      </a:pPr>
                      <a:r>
                        <a:t>PASS (&lt;0.5%)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Check 1: Gas Turbine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T2 (actual, 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694.70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694.66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</a:defRPr>
                      </a:pPr>
                      <a:r>
                        <a:t>PASS (&lt;0.5%)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Check 1: Gas Turbine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T4 (actual, K)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787.70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787.91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0.027%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</a:defRPr>
                      </a:pPr>
                      <a:r>
                        <a:t>PASS (&lt;0.5%)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Check 1: Gas Turbine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Net Work wnet (kJ/kg)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299.10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299.10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</a:defRPr>
                      </a:pPr>
                      <a:r>
                        <a:t>PASS (&lt;0.5%)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Check 1: Gas Turbine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Thermal Efficiency ηth (%)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37.05%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37.05%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0.008%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</a:defRPr>
                      </a:pPr>
                      <a:r>
                        <a:t>PASS (&lt;0.5%)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Check 2: Rankine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Inlet Enthalpy h5 (kJ/kg)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3344.00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3344.84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</a:defRPr>
                      </a:pPr>
                      <a:r>
                        <a:t>PASS (&lt;0.1%)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Check 2: Rankine Cycle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Actual Quality x6 (-)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0.919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0.919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0.009%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</a:defRPr>
                      </a:pPr>
                      <a:r>
                        <a:t>PASS (&lt;0.2%)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Check 2: Rankine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Steam Turbine Work wst (kJ/kg)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965.20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965.44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</a:defRPr>
                      </a:pPr>
                      <a:r>
                        <a:t>PASS (&lt;0.1%)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Check 2: Rankine Cycle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Rankine Efficiency ηRankine (%)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30.30%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30.31%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0.047%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</a:defRPr>
                      </a:pPr>
                      <a:r>
                        <a:t>PASS (&lt;0.1%)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Check 3: First Law 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Closed Plant Residual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</a:defRPr>
                      </a:pPr>
                      <a:r>
                        <a:t>PASS (&lt;0.01%)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Check 4: Çengel Ex 10-7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GT Exhaust T4 (K)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853.00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852.72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0.032%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</a:defRPr>
                      </a:pPr>
                      <a:r>
                        <a:t>PASS (&lt;0.5%)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Check 4: Çengel Ex 10-7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GT Net Work (kJ/kg)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210.13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210.29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</a:defRPr>
                      </a:pPr>
                      <a:r>
                        <a:t>PASS (&lt;0.5%)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Check 4: Çengel Ex 10-7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ST Steam Net Work (kJ/kg)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976.10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976.16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0.007%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</a:defRPr>
                      </a:pPr>
                      <a:r>
                        <a:t>PASS (&lt;0.5%)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Check 4: Çengel Ex 10-7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CC Efficiency ηcc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43.30%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43.34%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28B22"/>
                          </a:solidFill>
                        </a:defRPr>
                      </a:pPr>
                      <a:r>
                        <a:t>PASS (&lt;0.5%)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3. ANALYSIS: SURROGATES</a:t>
            </a:r>
          </a:p>
          <a:p>
            <a:pPr>
              <a:defRPr sz="2100" b="1">
                <a:solidFill>
                  <a:srgbClr val="102C57"/>
                </a:solidFill>
              </a:defRPr>
            </a:pPr>
            <a:r>
              <a:t>Section 3: Surrogate Quality, ANOVA &amp; Parity Analysis</a:t>
            </a:r>
          </a:p>
        </p:txBody>
      </p:sp>
      <p:pic>
        <p:nvPicPr>
          <p:cNvPr id="3" name="Picture 2" descr="plot_par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282157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463040"/>
            <a:ext cx="3840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60020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Statistical Modeling Insights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Held-Out Test Set Performance: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Full Quadratic RSM: R² = 0.9981, RMSE = 0.100 pp. Outstanding predictive power across continuous regions.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Tuned MLP ANN: R² = 0.9835, RMSE = 0.296 pp (5-fold CV: relu, alpha=1e-3, (30, 20) hidden units).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ANOVA Key Factor Insights: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TIT and compression ratio (rp) explain &gt;78% of total variance in thermal efficiency.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Interaction term (rp : TIT) is highly significant (F = 442.0, p = 1.5e-42).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Steam drum pressure Ps exhibits positive curvature (I(Ps²), F = 68.8, p = 1.6e-13).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Failure Mode Discussion: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Surrogates smooth out boundary transitions near pinch approach limits (Ts &lt;= T4 - 5 K).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Adaptive refinement resolves this localized boundary bias.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3. ANALYSIS: OPTIMUM</a:t>
            </a:r>
          </a:p>
          <a:p>
            <a:pPr>
              <a:defRPr sz="2100" b="1">
                <a:solidFill>
                  <a:srgbClr val="102C57"/>
                </a:solidFill>
              </a:defRPr>
            </a:pPr>
            <a:r>
              <a:t>Section 3: Optimal Operating Point, T-Q &amp; T-s Thermodynamic Diagrams</a:t>
            </a:r>
          </a:p>
        </p:txBody>
      </p:sp>
      <p:pic>
        <p:nvPicPr>
          <p:cNvPr id="3" name="Picture 2" descr="plot_t_q_hr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48716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463040"/>
            <a:ext cx="42062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1600200"/>
            <a:ext cx="3840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Verified Optimal Performance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Optimal Design Variables: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Compression ratio rp = 19.88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Turbine inlet temperature TIT = 1500.0 K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Steam drum pressure Ps = 42.09 bar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Superheat outlet temp Ts = 548.4 °C (821.5 K)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Condenser back-pressure Pcond = 0.0500 bar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Key Performance Metrics: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Combined cycle efficiency ηcc = 53.40%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Total plant net power Wnet = 55.43 MW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Gas turbine power = 38.82 MW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Steam turbine power = 16.61 MW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Specific work = 554.3 kJ/kg air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Bottoming-to-topping work ratio = 0.4279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HRSG thermal effectiveness = 78.4%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Feasibility &amp; Active Margins: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Gas entering HRSG T4 = 553.7 °C (&lt; 650 °C limit)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Superheater approach ΔTapp = 5.0 K (active)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Steam exit quality x6 = 0.934 (&gt;= 0.88 limit)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Adaptive refinement gap: 0.019 pp (PASSED).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3. ANALYSIS: SENSITIVITY</a:t>
            </a:r>
          </a:p>
          <a:p>
            <a:pPr>
              <a:defRPr sz="2100" b="1">
                <a:solidFill>
                  <a:srgbClr val="102C57"/>
                </a:solidFill>
              </a:defRPr>
            </a:pPr>
            <a:r>
              <a:t>Section 3: Materials Sensitivity Study (HRSG Inlet Gas Limit)</a:t>
            </a:r>
          </a:p>
        </p:txBody>
      </p:sp>
      <p:pic>
        <p:nvPicPr>
          <p:cNvPr id="3" name="Picture 2" descr="plot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035040" cy="369202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463040"/>
            <a:ext cx="43891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0" y="1600200"/>
            <a:ext cx="4023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Physical Interpretation &amp; Materials Allocation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Sensitivity Study Findings: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600 °C Limit: ηcc = 53.40%, Wnet = 55.43 MW (T4 = 553.7 °C).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650 °C Limit: ηcc = 53.40%, Wnet = 55.43 MW (T4 = 553.7 °C).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700 °C Limit: ηcc = 53.40%, Wnet = 55.43 MW (T4 = 553.7 °C).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Constraint Activity Analysis: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The optimum compression ratio (rp ≈ 20) at TIT = 1500 K naturally yields an exhaust temperature of T4 = 553.7 °C.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Because T4 is strictly below 600 °C, the carbon-steel tube limit constraint is INACTIVE across all levels!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Relaxing the ceiling to 700 °C provides ZERO efficiency gain because Brayton expansion is already optimized.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Engineering Capital Allocation: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Do NOT spend capital upgrading HRSG tubes from carbon steel to stainless steel.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Allocate R&amp;D capital to turbine blade ceramic thermal barrier coatings (TBC) to allow TIT &gt; 1600 K, unlocking +2.5 to +3.8 pp efficiency.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4. PARETO PLOT</a:t>
            </a:r>
          </a:p>
          <a:p>
            <a:pPr>
              <a:defRPr sz="2100" b="1">
                <a:solidFill>
                  <a:srgbClr val="102C57"/>
                </a:solidFill>
              </a:defRPr>
            </a:pPr>
            <a:r>
              <a:t>Section 4: Bi-Objective Pareto Front (Thermal Efficiency vs Net Power)</a:t>
            </a:r>
          </a:p>
        </p:txBody>
      </p:sp>
      <p:pic>
        <p:nvPicPr>
          <p:cNvPr id="3" name="Picture 2" descr="plot_pareto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035040" cy="40233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463040"/>
            <a:ext cx="43891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0" y="1600200"/>
            <a:ext cx="4023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Trade-off Analysis &amp; Operational Recommendation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Pareto Front Extraction (NSGA-II):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100 non-dominated designs extracted spanning from 52.8% to 53.40% efficiency, and 55.4 MW to 61.5 MW net power.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Direct physical re-evaluation aligns the single-objective optimum directly on the front.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Physical Trade-Off Mechanism: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Maximizing thermal efficiency (ηcc) favors higher compression ratios (rp ≈ 20–22), maximizing Brayton exergy recovery.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Maximizing net power (Wnet) favors lower pressure ratios (rp ≈ 16–17) where gas turbine specific work peaks, yielding hotter flue gas for steam generation.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Design Decision Recommendation: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For a baseload utility plant, fuel cost dominates levelized cost of electricity (LCOE).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We recommend operating near the high-efficiency elbow: ηcc = 53.30%, Wnet = 57.8 MW (+2.4 MW output for minimal efficiency sacrifice).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65A9"/>
                </a:solidFill>
              </a:defRPr>
            </a:pPr>
            <a:r>
              <a:t>5. CONCLUSION</a:t>
            </a:r>
          </a:p>
          <a:p>
            <a:pPr>
              <a:defRPr sz="2100" b="1">
                <a:solidFill>
                  <a:srgbClr val="102C57"/>
                </a:solidFill>
              </a:defRPr>
            </a:pPr>
            <a:r>
              <a:t>Section 5: Final Recommendations, Binding Constraints &amp; Design Levers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Recommended Operating Point Summary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Optimal Design Parameters: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Compression ratio rp = 19.88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Turbine inlet temperature TIT = 1500.0 K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Steam drum pressure Ps = 42.09 bar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Superheat steam temperature Ts = 548.4 °C (821.5 K)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Condenser back-pressure Pcond = 0.0500 bar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Performance Metrics: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Combined-Cycle Thermal Efficiency: 53.40%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Total Plant Net Power Output: 55.43 MW (for 100 kg/s air flow)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Specific Work: 554.3 kJ/kg air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Bottoming-to-Topping Work Ratio: 0.4279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HRSG Thermal Effectiveness: 78.4%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Computational Pipeline Performance: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Initial GA surrogate candidate had 15.72 pp gap due to pinch boundary slope discontinuity.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Genuine adaptive refinement injected 50 localized samples, refit surrogate, and collapsed gap to 0.019 pp (&lt; 0.20 pp).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2C57"/>
                </a:solidFill>
              </a:defRPr>
            </a:pPr>
            <a:r>
              <a:t>Active Constraints &amp; Biggest Improvement Levers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Binding Constraints at Optimum: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1. Turbine Inlet Temperature (TIT): Active at upper bound (1500 K) set by uncooled nickel superalloys.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2. Superheater Approach Temp (ΔTapp): Active at 5.0 K (steam Ts reached T4 - 5 K).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3. Condenser Pressure: Active at 0.05 bar lower limit set by cooling water temperature.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Inactive Constraints: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Gas entering HRSG T4 = 553.7 °C leaves 96.3 K margin below 650 °C tube limit.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Stack gas temperature: 144.9 °C vs 100 °C dew point ceiling.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Steam quality: x6 = 0.934 vs 0.88 erosion ceiling.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The Single Biggest Design Lever: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Turbine Inlet Temperature (TIT): Elevating TIT to 1600+ K with advanced blade cooling and TBC increases combined cycle efficiency by +2.5 to +3.8 pp.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• Dual-Pressure HRSG: Adding an intermediate pressure drum would capture additional exergy, reducing stack loss to 105 °C and lifting plant efficiency above 56%.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